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Cabin" panose="020B0604020202020204" charset="0"/>
      <p:regular r:id="rId13"/>
    </p:embeddedFont>
    <p:embeddedFont>
      <p:font typeface="Cabin Bold" panose="020B0604020202020204" charset="0"/>
      <p:regular r:id="rId14"/>
    </p:embeddedFont>
    <p:embeddedFont>
      <p:font typeface="Cabin Medium" panose="020B0604020202020204" charset="0"/>
      <p:regular r:id="rId15"/>
    </p:embeddedFont>
    <p:embeddedFont>
      <p:font typeface="Cabin SemiBold" panose="020B0604020202020204" charset="0"/>
      <p:regular r:id="rId16"/>
    </p:embeddedFont>
    <p:embeddedFont>
      <p:font typeface="Unbounded Medium" panose="020B0604020202020204" charset="0"/>
      <p:regular r:id="rId17"/>
    </p:embeddedFont>
    <p:embeddedFont>
      <p:font typeface="Unbounded SemiBold" panose="020B0604020202020204" charset="0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240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67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03170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project compares API specifications to reveal changes that could affect existing consumers. The two panels introduce the example used in the demonstration: a removed response field and a changed data type.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endpoint accepts and validates input. compare_apis coordinates the comparison and analysis pipeline. This diagram deliberately uses only the supplied module and function names. It is a proposed dependency view and must be checked against source before being presented as a definitive code 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Demonstrate the actual application here if available. Explain that eight detected changes do not necessarily mean eight unique schema edits: shared schemas can produce findings across several endpoints. Do not interpret this single example as an accuracy benchmark.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1128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722">
              <a:alpha val="72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1128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487363"/>
            <a:ext cx="1158211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100" spc="120" dirty="0">
                <a:solidFill>
                  <a:srgbClr val="FFFFFF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MICROSERVICE API COMPATIBILITY · PROJECT PRESENTATION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780415"/>
            <a:ext cx="10972526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000" kern="100" spc="-30" dirty="0">
                <a:solidFill>
                  <a:srgbClr val="FFFFFF"/>
                </a:solidFill>
                <a:latin typeface="Unbounded Medium" pitchFamily="34" charset="0"/>
                <a:ea typeface="Unbounded Medium" pitchFamily="34" charset="-122"/>
                <a:cs typeface="Unbounded Medium" pitchFamily="34" charset="-120"/>
              </a:rPr>
              <a:t>Automated Microservice API Drift Detector &amp; Backward-Compatibility Breaking Change Linter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9585" y="2203768"/>
            <a:ext cx="10972526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Detect breaking API changes before they break production.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09585" y="3368179"/>
            <a:ext cx="5333867" cy="1737221"/>
          </a:xfrm>
          <a:custGeom>
            <a:avLst/>
            <a:gdLst/>
            <a:ahLst/>
            <a:cxnLst/>
            <a:rect l="l" t="t" r="r" b="b"/>
            <a:pathLst>
              <a:path w="5333867" h="1737221">
                <a:moveTo>
                  <a:pt x="304792" y="0"/>
                </a:moveTo>
                <a:lnTo>
                  <a:pt x="5029074" y="0"/>
                </a:lnTo>
                <a:arcTo wR="304792" hR="304800" stAng="16200000" swAng="5400000"/>
                <a:lnTo>
                  <a:pt x="5333867" y="1432421"/>
                </a:lnTo>
                <a:arcTo wR="304792" hR="304800" stAng="0" swAng="5400000"/>
                <a:lnTo>
                  <a:pt x="76198" y="1737221"/>
                </a:lnTo>
                <a:arcTo wR="76198" hR="76200" stAng="5400000" swAng="5400000"/>
                <a:lnTo>
                  <a:pt x="0" y="304800"/>
                </a:lnTo>
                <a:arcTo wR="304792" hR="304800" stAng="10800000" swAng="5400000"/>
                <a:close/>
              </a:path>
            </a:pathLst>
          </a:custGeom>
          <a:solidFill>
            <a:srgbClr val="061722"/>
          </a:solidFill>
          <a:ln/>
        </p:spPr>
      </p:sp>
      <p:sp>
        <p:nvSpPr>
          <p:cNvPr id="6" name="Text 4"/>
          <p:cNvSpPr/>
          <p:nvPr/>
        </p:nvSpPr>
        <p:spPr>
          <a:xfrm>
            <a:off x="863578" y="3578046"/>
            <a:ext cx="4825879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Baseline API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3578" y="4019669"/>
            <a:ext cx="4825879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productName: string</a:t>
            </a:r>
            <a:endParaRPr lang="en-US" sz="16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price: number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48244" y="3368179"/>
            <a:ext cx="5333867" cy="1737221"/>
          </a:xfrm>
          <a:custGeom>
            <a:avLst/>
            <a:gdLst/>
            <a:ahLst/>
            <a:cxnLst/>
            <a:rect l="l" t="t" r="r" b="b"/>
            <a:pathLst>
              <a:path w="5333867" h="1737221">
                <a:moveTo>
                  <a:pt x="304792" y="0"/>
                </a:moveTo>
                <a:lnTo>
                  <a:pt x="5029074" y="0"/>
                </a:lnTo>
                <a:arcTo wR="304792" hR="304800" stAng="16200000" swAng="5400000"/>
                <a:lnTo>
                  <a:pt x="5333867" y="1432421"/>
                </a:lnTo>
                <a:arcTo wR="304792" hR="304800" stAng="0" swAng="5400000"/>
                <a:lnTo>
                  <a:pt x="76198" y="1737221"/>
                </a:lnTo>
                <a:arcTo wR="76198" hR="76200" stAng="5400000" swAng="5400000"/>
                <a:lnTo>
                  <a:pt x="0" y="304800"/>
                </a:lnTo>
                <a:arcTo wR="304792" hR="304800" stAng="10800000" swAng="5400000"/>
                <a:close/>
              </a:path>
            </a:pathLst>
          </a:custGeom>
          <a:solidFill>
            <a:srgbClr val="061722"/>
          </a:solidFill>
          <a:ln/>
        </p:spPr>
      </p:sp>
      <p:sp>
        <p:nvSpPr>
          <p:cNvPr id="9" name="Text 7"/>
          <p:cNvSpPr/>
          <p:nvPr/>
        </p:nvSpPr>
        <p:spPr>
          <a:xfrm>
            <a:off x="6502237" y="3578046"/>
            <a:ext cx="4825879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Updated API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02237" y="4019669"/>
            <a:ext cx="4825879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43D4C3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name: string</a:t>
            </a:r>
            <a:endParaRPr lang="en-US" sz="16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43D4C3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price: string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02237" y="4707017"/>
            <a:ext cx="5079873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productName removed · price type changed</a:t>
            </a:r>
            <a:endParaRPr lang="en-US" sz="12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182D3C-CD79-3580-1B1D-E1DE76E47B6F}"/>
              </a:ext>
            </a:extLst>
          </p:cNvPr>
          <p:cNvSpPr/>
          <p:nvPr/>
        </p:nvSpPr>
        <p:spPr>
          <a:xfrm>
            <a:off x="10558152" y="6328360"/>
            <a:ext cx="1627094" cy="516192"/>
          </a:xfrm>
          <a:prstGeom prst="rect">
            <a:avLst/>
          </a:prstGeom>
          <a:solidFill>
            <a:srgbClr val="02240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Agent Nexus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4363"/>
            <a:ext cx="1158211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100" spc="120" dirty="0">
                <a:solidFill>
                  <a:srgbClr val="43D4C3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08866"/>
            <a:ext cx="10972526" cy="474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400" kern="100" spc="-34" dirty="0">
                <a:solidFill>
                  <a:srgbClr val="FFFFFF"/>
                </a:solidFill>
                <a:latin typeface="Unbounded Medium" pitchFamily="34" charset="0"/>
                <a:ea typeface="Unbounded Medium" pitchFamily="34" charset="-122"/>
                <a:cs typeface="Unbounded Medium" pitchFamily="34" charset="-120"/>
              </a:rPr>
              <a:t>Why Do API Changes Cause Problems?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09585" y="1610023"/>
            <a:ext cx="7351429" cy="31651"/>
          </a:xfrm>
          <a:prstGeom prst="roundRect">
            <a:avLst>
              <a:gd name="adj" fmla="val 49998"/>
            </a:avLst>
          </a:prstGeom>
          <a:solidFill>
            <a:srgbClr val="43D4C3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1880215"/>
            <a:ext cx="10972526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Microservices exchange data through APIs. Developers regularly update these contracts, but dependent applications may still expect the old format.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09585" y="2830612"/>
            <a:ext cx="824289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43D4C3"/>
                </a:solidFill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09585" y="3115171"/>
            <a:ext cx="3454314" cy="19050"/>
          </a:xfrm>
          <a:prstGeom prst="rect">
            <a:avLst/>
          </a:prstGeom>
          <a:solidFill>
            <a:srgbClr val="0A988B"/>
          </a:solidFill>
          <a:ln/>
        </p:spPr>
      </p:sp>
      <p:sp>
        <p:nvSpPr>
          <p:cNvPr id="8" name="Text 6"/>
          <p:cNvSpPr/>
          <p:nvPr/>
        </p:nvSpPr>
        <p:spPr>
          <a:xfrm>
            <a:off x="609585" y="3225979"/>
            <a:ext cx="3454314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200" dirty="0">
                <a:solidFill>
                  <a:srgbClr val="E4EEF2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API updated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09585" y="3731042"/>
            <a:ext cx="3454314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 response field is removed or its data type changes.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368691" y="2830612"/>
            <a:ext cx="85961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43D4C3"/>
                </a:solidFill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368691" y="3115171"/>
            <a:ext cx="3454314" cy="19050"/>
          </a:xfrm>
          <a:prstGeom prst="rect">
            <a:avLst/>
          </a:prstGeom>
          <a:solidFill>
            <a:srgbClr val="0A988B"/>
          </a:solidFill>
          <a:ln/>
        </p:spPr>
      </p:sp>
      <p:sp>
        <p:nvSpPr>
          <p:cNvPr id="12" name="Text 10"/>
          <p:cNvSpPr/>
          <p:nvPr/>
        </p:nvSpPr>
        <p:spPr>
          <a:xfrm>
            <a:off x="4368691" y="3225979"/>
            <a:ext cx="3454314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200" dirty="0">
                <a:solidFill>
                  <a:srgbClr val="E4EEF2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Consumer expects old data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368691" y="3731042"/>
            <a:ext cx="3454314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Existing code still reads the original field and type.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127797" y="2830612"/>
            <a:ext cx="86209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43D4C3"/>
                </a:solidFill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127797" y="3115171"/>
            <a:ext cx="3454314" cy="19050"/>
          </a:xfrm>
          <a:prstGeom prst="rect">
            <a:avLst/>
          </a:prstGeom>
          <a:solidFill>
            <a:srgbClr val="0A988B"/>
          </a:solidFill>
          <a:ln/>
        </p:spPr>
      </p:sp>
      <p:sp>
        <p:nvSpPr>
          <p:cNvPr id="16" name="Text 14"/>
          <p:cNvSpPr/>
          <p:nvPr/>
        </p:nvSpPr>
        <p:spPr>
          <a:xfrm>
            <a:off x="8127797" y="3225979"/>
            <a:ext cx="3454314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200" dirty="0">
                <a:solidFill>
                  <a:srgbClr val="E4EEF2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Application may fail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127797" y="3731042"/>
            <a:ext cx="3454314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The problem may appear only after deployment.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09585" y="4681438"/>
            <a:ext cx="5333867" cy="1184870"/>
          </a:xfrm>
          <a:prstGeom prst="rect">
            <a:avLst/>
          </a:prstGeom>
          <a:solidFill>
            <a:srgbClr val="1C3645"/>
          </a:solidFill>
          <a:ln/>
        </p:spPr>
      </p:sp>
      <p:sp>
        <p:nvSpPr>
          <p:cNvPr id="19" name="Text 17"/>
          <p:cNvSpPr/>
          <p:nvPr/>
        </p:nvSpPr>
        <p:spPr>
          <a:xfrm>
            <a:off x="838179" y="4916706"/>
            <a:ext cx="4876678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API drift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38179" y="5358328"/>
            <a:ext cx="5105272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 change between API versions.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248244" y="4681438"/>
            <a:ext cx="5333867" cy="1184870"/>
          </a:xfrm>
          <a:prstGeom prst="rect">
            <a:avLst/>
          </a:prstGeom>
          <a:solidFill>
            <a:srgbClr val="1C3645"/>
          </a:solidFill>
          <a:ln/>
        </p:spPr>
      </p:sp>
      <p:sp>
        <p:nvSpPr>
          <p:cNvPr id="22" name="Text 20"/>
          <p:cNvSpPr/>
          <p:nvPr/>
        </p:nvSpPr>
        <p:spPr>
          <a:xfrm>
            <a:off x="6476838" y="4916706"/>
            <a:ext cx="4876678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Breaking change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476838" y="5358328"/>
            <a:ext cx="5105272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 change that may cause existing clients to fail.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09585" y="6053316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A9BFC9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Early detection gives developers time to review risky changes before release.</a:t>
            </a:r>
            <a:endParaRPr lang="en-US" sz="16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34F6865-276E-3B42-A4FC-DB3ECA83D267}"/>
              </a:ext>
            </a:extLst>
          </p:cNvPr>
          <p:cNvSpPr/>
          <p:nvPr/>
        </p:nvSpPr>
        <p:spPr>
          <a:xfrm>
            <a:off x="10558152" y="6328360"/>
            <a:ext cx="1627094" cy="516192"/>
          </a:xfrm>
          <a:prstGeom prst="rect">
            <a:avLst/>
          </a:prstGeom>
          <a:solidFill>
            <a:srgbClr val="02240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Agent Nexus</a:t>
            </a:r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4363"/>
            <a:ext cx="1158211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100" spc="120" dirty="0">
                <a:solidFill>
                  <a:srgbClr val="43D4C3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PROJECT GOALS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08866"/>
            <a:ext cx="10972526" cy="474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400" kern="100" spc="-34" dirty="0">
                <a:solidFill>
                  <a:srgbClr val="FFFFFF"/>
                </a:solidFill>
                <a:latin typeface="Unbounded Medium" pitchFamily="34" charset="0"/>
                <a:ea typeface="Unbounded Medium" pitchFamily="34" charset="-122"/>
                <a:cs typeface="Unbounded Medium" pitchFamily="34" charset="-120"/>
              </a:rPr>
              <a:t>Project Objectives and Proposed Solution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09585" y="1610023"/>
            <a:ext cx="7351429" cy="31651"/>
          </a:xfrm>
          <a:prstGeom prst="roundRect">
            <a:avLst>
              <a:gd name="adj" fmla="val 49998"/>
            </a:avLst>
          </a:prstGeom>
          <a:solidFill>
            <a:srgbClr val="43D4C3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1876405"/>
            <a:ext cx="11582110" cy="337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Compare API contracts and turn differences into actionable compatibility findings.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09585" y="2795588"/>
            <a:ext cx="660383" cy="660400"/>
          </a:xfrm>
          <a:prstGeom prst="ellipse">
            <a:avLst/>
          </a:prstGeom>
          <a:noFill/>
          <a:ln w="25399">
            <a:solidFill>
              <a:srgbClr val="219186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380" y="2973388"/>
            <a:ext cx="304792" cy="3048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09585" y="3583305"/>
            <a:ext cx="1965871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E4EEF2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Compare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09585" y="4024928"/>
            <a:ext cx="1965871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Read two API specification versions.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032644" y="2795588"/>
            <a:ext cx="660383" cy="660400"/>
          </a:xfrm>
          <a:prstGeom prst="ellipse">
            <a:avLst/>
          </a:prstGeom>
          <a:noFill/>
          <a:ln w="25399">
            <a:solidFill>
              <a:srgbClr val="219186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0440" y="2973388"/>
            <a:ext cx="304792" cy="3048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032644" y="3583305"/>
            <a:ext cx="1737277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E4EEF2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Detect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3032644" y="4024928"/>
            <a:ext cx="1737277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Find endpoint, field and type changes.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5227110" y="2795588"/>
            <a:ext cx="660383" cy="660400"/>
          </a:xfrm>
          <a:prstGeom prst="ellipse">
            <a:avLst/>
          </a:prstGeom>
          <a:noFill/>
          <a:ln w="25399">
            <a:solidFill>
              <a:srgbClr val="219186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4905" y="2973388"/>
            <a:ext cx="304792" cy="3048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227110" y="3583305"/>
            <a:ext cx="1737376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E4EEF2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Analyze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5227110" y="4024928"/>
            <a:ext cx="1737376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Identify potential compatibility breaks.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7421674" y="2795588"/>
            <a:ext cx="660383" cy="660400"/>
          </a:xfrm>
          <a:prstGeom prst="ellipse">
            <a:avLst/>
          </a:prstGeom>
          <a:noFill/>
          <a:ln w="25399">
            <a:solidFill>
              <a:srgbClr val="219186"/>
            </a:solidFill>
            <a:prstDash val="solid"/>
          </a:ln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99470" y="2973388"/>
            <a:ext cx="304792" cy="3048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421674" y="3583305"/>
            <a:ext cx="1737277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E4EEF2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Classify</a:t>
            </a:r>
            <a:endParaRPr lang="en-US" sz="1800" dirty="0"/>
          </a:p>
        </p:txBody>
      </p:sp>
      <p:sp>
        <p:nvSpPr>
          <p:cNvPr id="21" name="Text 15"/>
          <p:cNvSpPr/>
          <p:nvPr/>
        </p:nvSpPr>
        <p:spPr>
          <a:xfrm>
            <a:off x="7421674" y="4024928"/>
            <a:ext cx="1737277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Assess severity and compatibility impact.</a:t>
            </a:r>
            <a:endParaRPr lang="en-US" sz="1600" dirty="0"/>
          </a:p>
        </p:txBody>
      </p:sp>
      <p:sp>
        <p:nvSpPr>
          <p:cNvPr id="22" name="Shape 16"/>
          <p:cNvSpPr/>
          <p:nvPr/>
        </p:nvSpPr>
        <p:spPr>
          <a:xfrm>
            <a:off x="9616140" y="2795588"/>
            <a:ext cx="660383" cy="660400"/>
          </a:xfrm>
          <a:prstGeom prst="ellipse">
            <a:avLst/>
          </a:prstGeom>
          <a:noFill/>
          <a:ln w="25399">
            <a:solidFill>
              <a:srgbClr val="219186"/>
            </a:solidFill>
            <a:prstDash val="solid"/>
          </a:ln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93935" y="2973388"/>
            <a:ext cx="304792" cy="30480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616140" y="3583305"/>
            <a:ext cx="1965970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E4EEF2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Report</a:t>
            </a:r>
            <a:endParaRPr lang="en-US" sz="1800" dirty="0"/>
          </a:p>
        </p:txBody>
      </p:sp>
      <p:sp>
        <p:nvSpPr>
          <p:cNvPr id="25" name="Text 18"/>
          <p:cNvSpPr/>
          <p:nvPr/>
        </p:nvSpPr>
        <p:spPr>
          <a:xfrm>
            <a:off x="9616140" y="4024928"/>
            <a:ext cx="1965970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Provide findings and remediation guidance.</a:t>
            </a:r>
            <a:endParaRPr lang="en-US" sz="1600" dirty="0"/>
          </a:p>
        </p:txBody>
      </p:sp>
      <p:sp>
        <p:nvSpPr>
          <p:cNvPr id="26" name="Shape 19"/>
          <p:cNvSpPr/>
          <p:nvPr/>
        </p:nvSpPr>
        <p:spPr>
          <a:xfrm>
            <a:off x="609585" y="5455940"/>
            <a:ext cx="10972526" cy="792460"/>
          </a:xfrm>
          <a:prstGeom prst="roundRect">
            <a:avLst>
              <a:gd name="adj" fmla="val 23077"/>
            </a:avLst>
          </a:prstGeom>
          <a:solidFill>
            <a:srgbClr val="022349"/>
          </a:solidFill>
          <a:ln/>
        </p:spPr>
      </p:sp>
      <p:sp>
        <p:nvSpPr>
          <p:cNvPr id="27" name="Text 20"/>
          <p:cNvSpPr/>
          <p:nvPr/>
        </p:nvSpPr>
        <p:spPr>
          <a:xfrm>
            <a:off x="812780" y="5715020"/>
            <a:ext cx="11175720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Backward compatibility means existing consumers continue to work after an update.</a:t>
            </a:r>
            <a:endParaRPr lang="en-US" sz="1600" dirty="0"/>
          </a:p>
        </p:txBody>
      </p:sp>
      <p:sp>
        <p:nvSpPr>
          <p:cNvPr id="28" name="Shape 21"/>
          <p:cNvSpPr/>
          <p:nvPr/>
        </p:nvSpPr>
        <p:spPr>
          <a:xfrm>
            <a:off x="2797700" y="2795588"/>
            <a:ext cx="12700" cy="2077641"/>
          </a:xfrm>
          <a:prstGeom prst="rect">
            <a:avLst/>
          </a:prstGeom>
          <a:solidFill>
            <a:srgbClr val="2E5563"/>
          </a:solidFill>
          <a:ln/>
        </p:spPr>
      </p:sp>
      <p:sp>
        <p:nvSpPr>
          <p:cNvPr id="29" name="Shape 22"/>
          <p:cNvSpPr/>
          <p:nvPr/>
        </p:nvSpPr>
        <p:spPr>
          <a:xfrm>
            <a:off x="4992166" y="2795588"/>
            <a:ext cx="12700" cy="2077641"/>
          </a:xfrm>
          <a:prstGeom prst="rect">
            <a:avLst/>
          </a:prstGeom>
          <a:solidFill>
            <a:srgbClr val="2E5563"/>
          </a:solidFill>
          <a:ln/>
        </p:spPr>
      </p:sp>
      <p:sp>
        <p:nvSpPr>
          <p:cNvPr id="30" name="Shape 23"/>
          <p:cNvSpPr/>
          <p:nvPr/>
        </p:nvSpPr>
        <p:spPr>
          <a:xfrm>
            <a:off x="7186730" y="2795588"/>
            <a:ext cx="12700" cy="2077641"/>
          </a:xfrm>
          <a:prstGeom prst="rect">
            <a:avLst/>
          </a:prstGeom>
          <a:solidFill>
            <a:srgbClr val="2E5563"/>
          </a:solidFill>
          <a:ln/>
        </p:spPr>
      </p:sp>
      <p:sp>
        <p:nvSpPr>
          <p:cNvPr id="31" name="Shape 24"/>
          <p:cNvSpPr/>
          <p:nvPr/>
        </p:nvSpPr>
        <p:spPr>
          <a:xfrm>
            <a:off x="9381196" y="2795588"/>
            <a:ext cx="12700" cy="2077641"/>
          </a:xfrm>
          <a:prstGeom prst="rect">
            <a:avLst/>
          </a:prstGeom>
          <a:solidFill>
            <a:srgbClr val="2E5563"/>
          </a:solidFill>
          <a:ln/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8280DCC-011E-6870-C8A0-FEED68E03043}"/>
              </a:ext>
            </a:extLst>
          </p:cNvPr>
          <p:cNvSpPr/>
          <p:nvPr/>
        </p:nvSpPr>
        <p:spPr>
          <a:xfrm>
            <a:off x="10558152" y="6328360"/>
            <a:ext cx="1627094" cy="516192"/>
          </a:xfrm>
          <a:prstGeom prst="rect">
            <a:avLst/>
          </a:prstGeom>
          <a:solidFill>
            <a:srgbClr val="02240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Agent Nexus</a:t>
            </a:r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436563"/>
            <a:ext cx="1163290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100" spc="120" dirty="0">
                <a:solidFill>
                  <a:srgbClr val="43D4C3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IMPLEMENTATION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58786" y="729615"/>
            <a:ext cx="11074123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000" kern="100" spc="-30" dirty="0">
                <a:solidFill>
                  <a:srgbClr val="FFFFFF"/>
                </a:solidFill>
                <a:latin typeface="Unbounded Medium" pitchFamily="34" charset="0"/>
                <a:ea typeface="Unbounded Medium" pitchFamily="34" charset="-122"/>
                <a:cs typeface="Unbounded Medium" pitchFamily="34" charset="-120"/>
              </a:rPr>
              <a:t>System Architecture of the Proposed Solution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58786" y="5400258"/>
            <a:ext cx="11632909" cy="728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A9BFC9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Specifications enter through the frontend; </a:t>
            </a:r>
          </a:p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A9BFC9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the backend compares and analyzes them,</a:t>
            </a:r>
          </a:p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A9BFC9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then returns findings and a PDF report.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58786" y="1225451"/>
            <a:ext cx="2412840" cy="1219101"/>
          </a:xfrm>
          <a:prstGeom prst="roundRect">
            <a:avLst>
              <a:gd name="adj" fmla="val 2813"/>
            </a:avLst>
          </a:prstGeom>
          <a:solidFill>
            <a:srgbClr val="1C3645"/>
          </a:solidFill>
          <a:ln w="12700">
            <a:solidFill>
              <a:srgbClr val="43D4C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8483" y="1375311"/>
            <a:ext cx="2133447" cy="264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E4EEF2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Old + new specs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98483" y="1775321"/>
            <a:ext cx="2133447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OpenAPI 3.x</a:t>
            </a:r>
            <a:endParaRPr lang="en-US" sz="14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YAML or JSON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047825" y="1695351"/>
            <a:ext cx="279294" cy="228501"/>
          </a:xfrm>
          <a:prstGeom prst="rightArrow">
            <a:avLst/>
          </a:prstGeom>
          <a:solidFill>
            <a:srgbClr val="43D4C3"/>
          </a:solidFill>
          <a:ln/>
        </p:spPr>
      </p:sp>
      <p:sp>
        <p:nvSpPr>
          <p:cNvPr id="9" name="Shape 7"/>
          <p:cNvSpPr/>
          <p:nvPr/>
        </p:nvSpPr>
        <p:spPr>
          <a:xfrm>
            <a:off x="3441515" y="1225451"/>
            <a:ext cx="2412840" cy="1219101"/>
          </a:xfrm>
          <a:prstGeom prst="roundRect">
            <a:avLst>
              <a:gd name="adj" fmla="val 2813"/>
            </a:avLst>
          </a:prstGeom>
          <a:solidFill>
            <a:srgbClr val="1C3645"/>
          </a:solidFill>
          <a:ln/>
        </p:spPr>
      </p:sp>
      <p:sp>
        <p:nvSpPr>
          <p:cNvPr id="10" name="Text 8"/>
          <p:cNvSpPr/>
          <p:nvPr/>
        </p:nvSpPr>
        <p:spPr>
          <a:xfrm>
            <a:off x="3568512" y="1362611"/>
            <a:ext cx="2158847" cy="264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E4EEF2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Frontend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68512" y="1762621"/>
            <a:ext cx="2158847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React · JavaScript · Vite</a:t>
            </a:r>
            <a:endParaRPr lang="en-US" sz="14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HTML · CSS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930652" y="1695351"/>
            <a:ext cx="279294" cy="228501"/>
          </a:xfrm>
          <a:prstGeom prst="rightArrow">
            <a:avLst/>
          </a:prstGeom>
          <a:solidFill>
            <a:srgbClr val="43D4C3"/>
          </a:solidFill>
          <a:ln/>
        </p:spPr>
      </p:sp>
      <p:sp>
        <p:nvSpPr>
          <p:cNvPr id="13" name="Shape 11"/>
          <p:cNvSpPr/>
          <p:nvPr/>
        </p:nvSpPr>
        <p:spPr>
          <a:xfrm>
            <a:off x="6324343" y="1225451"/>
            <a:ext cx="2412840" cy="1219101"/>
          </a:xfrm>
          <a:prstGeom prst="roundRect">
            <a:avLst>
              <a:gd name="adj" fmla="val 2813"/>
            </a:avLst>
          </a:prstGeom>
          <a:solidFill>
            <a:srgbClr val="1C3645"/>
          </a:solidFill>
          <a:ln/>
        </p:spPr>
      </p:sp>
      <p:sp>
        <p:nvSpPr>
          <p:cNvPr id="14" name="Text 12"/>
          <p:cNvSpPr/>
          <p:nvPr/>
        </p:nvSpPr>
        <p:spPr>
          <a:xfrm>
            <a:off x="6451339" y="1362611"/>
            <a:ext cx="2158847" cy="264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E4EEF2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Backend API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51339" y="1762621"/>
            <a:ext cx="2768432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Python · FastAPI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813480" y="1695351"/>
            <a:ext cx="279294" cy="228501"/>
          </a:xfrm>
          <a:prstGeom prst="rightArrow">
            <a:avLst/>
          </a:prstGeom>
          <a:solidFill>
            <a:srgbClr val="43D4C3"/>
          </a:solidFill>
          <a:ln/>
        </p:spPr>
      </p:sp>
      <p:sp>
        <p:nvSpPr>
          <p:cNvPr id="17" name="Shape 15"/>
          <p:cNvSpPr/>
          <p:nvPr/>
        </p:nvSpPr>
        <p:spPr>
          <a:xfrm>
            <a:off x="9207170" y="1225451"/>
            <a:ext cx="2412840" cy="1219101"/>
          </a:xfrm>
          <a:prstGeom prst="roundRect">
            <a:avLst>
              <a:gd name="adj" fmla="val 2813"/>
            </a:avLst>
          </a:prstGeom>
          <a:solidFill>
            <a:srgbClr val="1C3645"/>
          </a:solidFill>
          <a:ln/>
        </p:spPr>
      </p:sp>
      <p:sp>
        <p:nvSpPr>
          <p:cNvPr id="18" name="Text 16"/>
          <p:cNvSpPr/>
          <p:nvPr/>
        </p:nvSpPr>
        <p:spPr>
          <a:xfrm>
            <a:off x="9334167" y="1362611"/>
            <a:ext cx="2158847" cy="264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E4EEF2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Comparison engine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334167" y="1762621"/>
            <a:ext cx="2768432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Python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 rot="5400000">
            <a:off x="10273944" y="2520850"/>
            <a:ext cx="279294" cy="228501"/>
          </a:xfrm>
          <a:prstGeom prst="rightArrow">
            <a:avLst/>
          </a:prstGeom>
          <a:solidFill>
            <a:srgbClr val="43D4C3"/>
          </a:solidFill>
          <a:ln/>
        </p:spPr>
      </p:sp>
      <p:sp>
        <p:nvSpPr>
          <p:cNvPr id="21" name="Shape 19"/>
          <p:cNvSpPr/>
          <p:nvPr/>
        </p:nvSpPr>
        <p:spPr>
          <a:xfrm>
            <a:off x="9207170" y="2901851"/>
            <a:ext cx="2412840" cy="1219101"/>
          </a:xfrm>
          <a:prstGeom prst="roundRect">
            <a:avLst>
              <a:gd name="adj" fmla="val 2813"/>
            </a:avLst>
          </a:prstGeom>
          <a:solidFill>
            <a:srgbClr val="1C3645"/>
          </a:solidFill>
          <a:ln/>
        </p:spPr>
      </p:sp>
      <p:sp>
        <p:nvSpPr>
          <p:cNvPr id="22" name="Text 20"/>
          <p:cNvSpPr/>
          <p:nvPr/>
        </p:nvSpPr>
        <p:spPr>
          <a:xfrm>
            <a:off x="9334167" y="3039011"/>
            <a:ext cx="2158847" cy="264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E4EEF2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Compatibility analysis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334167" y="3439021"/>
            <a:ext cx="2768432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Python rules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 flipH="1">
            <a:off x="8813480" y="3397151"/>
            <a:ext cx="279294" cy="228501"/>
          </a:xfrm>
          <a:prstGeom prst="rightArrow">
            <a:avLst/>
          </a:prstGeom>
          <a:solidFill>
            <a:srgbClr val="43D4C3"/>
          </a:solidFill>
          <a:ln/>
        </p:spPr>
      </p:sp>
      <p:sp>
        <p:nvSpPr>
          <p:cNvPr id="25" name="Shape 23"/>
          <p:cNvSpPr/>
          <p:nvPr/>
        </p:nvSpPr>
        <p:spPr>
          <a:xfrm>
            <a:off x="6324343" y="2901851"/>
            <a:ext cx="2412840" cy="1219101"/>
          </a:xfrm>
          <a:prstGeom prst="roundRect">
            <a:avLst>
              <a:gd name="adj" fmla="val 2813"/>
            </a:avLst>
          </a:prstGeom>
          <a:solidFill>
            <a:srgbClr val="1C3645"/>
          </a:solidFill>
          <a:ln/>
        </p:spPr>
      </p:sp>
      <p:sp>
        <p:nvSpPr>
          <p:cNvPr id="26" name="Text 24"/>
          <p:cNvSpPr/>
          <p:nvPr/>
        </p:nvSpPr>
        <p:spPr>
          <a:xfrm>
            <a:off x="6451339" y="3039011"/>
            <a:ext cx="2158847" cy="264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E4EEF2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Risk analysis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51339" y="3439021"/>
            <a:ext cx="2768432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Python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 flipH="1">
            <a:off x="5930652" y="3397151"/>
            <a:ext cx="279294" cy="228501"/>
          </a:xfrm>
          <a:prstGeom prst="rightArrow">
            <a:avLst/>
          </a:prstGeom>
          <a:solidFill>
            <a:srgbClr val="43D4C3"/>
          </a:solidFill>
          <a:ln/>
        </p:spPr>
      </p:sp>
      <p:sp>
        <p:nvSpPr>
          <p:cNvPr id="29" name="Shape 27"/>
          <p:cNvSpPr/>
          <p:nvPr/>
        </p:nvSpPr>
        <p:spPr>
          <a:xfrm>
            <a:off x="3441515" y="2901851"/>
            <a:ext cx="2412840" cy="1219101"/>
          </a:xfrm>
          <a:prstGeom prst="roundRect">
            <a:avLst>
              <a:gd name="adj" fmla="val 2813"/>
            </a:avLst>
          </a:prstGeom>
          <a:solidFill>
            <a:srgbClr val="1C3645"/>
          </a:solidFill>
          <a:ln/>
        </p:spPr>
      </p:sp>
      <p:sp>
        <p:nvSpPr>
          <p:cNvPr id="30" name="Text 28"/>
          <p:cNvSpPr/>
          <p:nvPr/>
        </p:nvSpPr>
        <p:spPr>
          <a:xfrm>
            <a:off x="3568512" y="3039011"/>
            <a:ext cx="2158847" cy="264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E4EEF2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Recommendations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3568512" y="3439021"/>
            <a:ext cx="2768432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Python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 flipH="1">
            <a:off x="3047825" y="3397151"/>
            <a:ext cx="279294" cy="228501"/>
          </a:xfrm>
          <a:prstGeom prst="rightArrow">
            <a:avLst/>
          </a:prstGeom>
          <a:solidFill>
            <a:srgbClr val="43D4C3"/>
          </a:solidFill>
          <a:ln/>
        </p:spPr>
      </p:sp>
      <p:sp>
        <p:nvSpPr>
          <p:cNvPr id="33" name="Shape 31"/>
          <p:cNvSpPr/>
          <p:nvPr/>
        </p:nvSpPr>
        <p:spPr>
          <a:xfrm>
            <a:off x="558786" y="2901851"/>
            <a:ext cx="2412840" cy="1219101"/>
          </a:xfrm>
          <a:prstGeom prst="roundRect">
            <a:avLst>
              <a:gd name="adj" fmla="val 2813"/>
            </a:avLst>
          </a:prstGeom>
          <a:solidFill>
            <a:srgbClr val="1C3645"/>
          </a:solidFill>
          <a:ln w="12700">
            <a:solidFill>
              <a:srgbClr val="43D4C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8483" y="3051711"/>
            <a:ext cx="2133447" cy="264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E4EEF2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Results + PDF report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98483" y="3451721"/>
            <a:ext cx="2743032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Returned to the user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58786" y="4496990"/>
            <a:ext cx="8267592" cy="396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dirty="0">
                <a:solidFill>
                  <a:srgbClr val="A9BFC9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Platform labels, as configured or intended</a:t>
            </a:r>
            <a:endParaRPr lang="en-US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dirty="0">
                <a:solidFill>
                  <a:srgbClr val="A9BFC9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Frontend: Vercel · Backend: Render</a:t>
            </a:r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317DB43-7E38-3613-C796-1C365A3CAACF}"/>
              </a:ext>
            </a:extLst>
          </p:cNvPr>
          <p:cNvSpPr/>
          <p:nvPr/>
        </p:nvSpPr>
        <p:spPr>
          <a:xfrm>
            <a:off x="10558152" y="6328360"/>
            <a:ext cx="1627094" cy="516192"/>
          </a:xfrm>
          <a:prstGeom prst="rect">
            <a:avLst/>
          </a:prstGeom>
          <a:solidFill>
            <a:srgbClr val="02240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Agent Nexus</a:t>
            </a:r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436563"/>
            <a:ext cx="1163290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100" spc="120" dirty="0">
                <a:solidFill>
                  <a:srgbClr val="43D4C3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USER INTERACTION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58786" y="731066"/>
            <a:ext cx="11074123" cy="474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400" kern="100" spc="-34" dirty="0">
                <a:solidFill>
                  <a:srgbClr val="FFFFFF"/>
                </a:solidFill>
                <a:latin typeface="Unbounded Medium" pitchFamily="34" charset="0"/>
                <a:ea typeface="Unbounded Medium" pitchFamily="34" charset="-122"/>
                <a:cs typeface="Unbounded Medium" pitchFamily="34" charset="-120"/>
              </a:rPr>
              <a:t>UML Use Case Diagram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58786" y="5964118"/>
            <a:ext cx="11632909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A9BFC9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Two specifications are required · Findings support review · PDF supports sharing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174821" y="1332111"/>
            <a:ext cx="8432490" cy="4444901"/>
          </a:xfrm>
          <a:prstGeom prst="roundRect">
            <a:avLst>
              <a:gd name="adj" fmla="val 771"/>
            </a:avLst>
          </a:prstGeom>
          <a:noFill/>
          <a:ln w="12700">
            <a:solidFill>
              <a:srgbClr val="43D4C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339917" y="1497211"/>
            <a:ext cx="8102298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Automated Microservice API Drift Detector &amp;</a:t>
            </a:r>
            <a:endParaRPr lang="en-US" sz="1400" dirty="0"/>
          </a:p>
          <a:p>
            <a:pPr marL="0" indent="0" algn="ctr">
              <a:lnSpc>
                <a:spcPct val="1170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Backward-Compatibility Breaking Change Linter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434965" y="2640211"/>
            <a:ext cx="355492" cy="355501"/>
          </a:xfrm>
          <a:prstGeom prst="ellipse">
            <a:avLst/>
          </a:prstGeom>
          <a:noFill/>
          <a:ln w="25400">
            <a:solidFill>
              <a:srgbClr val="43D4C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12760" y="3783211"/>
            <a:ext cx="380891" cy="533301"/>
          </a:xfrm>
          <a:prstGeom prst="line">
            <a:avLst/>
          </a:prstGeom>
          <a:solidFill>
            <a:srgbClr val="0A988B"/>
          </a:solidFill>
          <a:ln w="25400">
            <a:solidFill>
              <a:srgbClr val="43D4C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10800000">
            <a:off x="1231770" y="3783211"/>
            <a:ext cx="380891" cy="533301"/>
          </a:xfrm>
          <a:prstGeom prst="line">
            <a:avLst/>
          </a:prstGeom>
          <a:solidFill>
            <a:srgbClr val="0A988B"/>
          </a:solidFill>
          <a:ln w="25400">
            <a:solidFill>
              <a:srgbClr val="43D4C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5835" y="4520764"/>
            <a:ext cx="2120946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Developer or</a:t>
            </a:r>
            <a:endParaRPr lang="en-US" sz="1800" dirty="0"/>
          </a:p>
          <a:p>
            <a:pPr marL="0" indent="0" algn="ctr">
              <a:lnSpc>
                <a:spcPct val="11700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API Maintainer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635285" y="2144911"/>
            <a:ext cx="5460764" cy="711101"/>
          </a:xfrm>
          <a:prstGeom prst="ellipse">
            <a:avLst/>
          </a:prstGeom>
          <a:solidFill>
            <a:srgbClr val="1C3645"/>
          </a:solidFill>
          <a:ln w="12700">
            <a:solidFill>
              <a:srgbClr val="43D4C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68532" y="2349064"/>
            <a:ext cx="5194269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Upload baseline and updated specifications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635285" y="2995811"/>
            <a:ext cx="5460764" cy="711101"/>
          </a:xfrm>
          <a:prstGeom prst="ellipse">
            <a:avLst/>
          </a:prstGeom>
          <a:solidFill>
            <a:srgbClr val="1C3645"/>
          </a:solidFill>
          <a:ln w="12700">
            <a:solidFill>
              <a:srgbClr val="43D4C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68532" y="3187264"/>
            <a:ext cx="5194269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Compare versions and view detected changes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254294" y="3834011"/>
            <a:ext cx="6222745" cy="761901"/>
          </a:xfrm>
          <a:prstGeom prst="ellipse">
            <a:avLst/>
          </a:prstGeom>
          <a:solidFill>
            <a:srgbClr val="1C3645"/>
          </a:solidFill>
          <a:ln w="12700">
            <a:solidFill>
              <a:srgbClr val="43D4C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43133" y="3949264"/>
            <a:ext cx="5245068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Review breaking changes, severity</a:t>
            </a:r>
            <a:endParaRPr lang="en-US" sz="1800" dirty="0"/>
          </a:p>
          <a:p>
            <a:pPr marL="0" indent="0" algn="ctr">
              <a:lnSpc>
                <a:spcPct val="11700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and remediation guidance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635285" y="4761111"/>
            <a:ext cx="5460764" cy="711101"/>
          </a:xfrm>
          <a:prstGeom prst="ellipse">
            <a:avLst/>
          </a:prstGeom>
          <a:solidFill>
            <a:srgbClr val="1C3645"/>
          </a:solidFill>
          <a:ln w="12700">
            <a:solidFill>
              <a:srgbClr val="43D4C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68532" y="4965264"/>
            <a:ext cx="5194269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Export or download a PDF report</a:t>
            </a:r>
            <a:endParaRPr lang="en-US" sz="18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391870A-4A3C-05ED-1A7A-C58B7898F8C3}"/>
              </a:ext>
            </a:extLst>
          </p:cNvPr>
          <p:cNvSpPr/>
          <p:nvPr/>
        </p:nvSpPr>
        <p:spPr>
          <a:xfrm>
            <a:off x="10558152" y="6328360"/>
            <a:ext cx="1627094" cy="516192"/>
          </a:xfrm>
          <a:prstGeom prst="rect">
            <a:avLst/>
          </a:prstGeom>
          <a:solidFill>
            <a:srgbClr val="02240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Agent Nexus</a:t>
            </a:r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436563"/>
            <a:ext cx="1163290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100" spc="120" dirty="0">
                <a:solidFill>
                  <a:srgbClr val="43D4C3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FUNCTION-BASED IMPLEMENTATION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58786" y="729615"/>
            <a:ext cx="11074123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000" kern="100" spc="-30" dirty="0">
                <a:solidFill>
                  <a:srgbClr val="FFFFFF"/>
                </a:solidFill>
                <a:latin typeface="Unbounded Medium" pitchFamily="34" charset="0"/>
                <a:ea typeface="Unbounded Medium" pitchFamily="34" charset="-122"/>
                <a:cs typeface="Unbounded Medium" pitchFamily="34" charset="-120"/>
              </a:rPr>
              <a:t>UML Class Diagram and Module Structure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58786" y="1332230"/>
            <a:ext cx="11632909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Module structure, not invented classes or inheritance. Dependency relationships are to be verified against source.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58786" y="1713111"/>
            <a:ext cx="3047825" cy="1142901"/>
          </a:xfrm>
          <a:prstGeom prst="roundRect">
            <a:avLst>
              <a:gd name="adj" fmla="val 3000"/>
            </a:avLst>
          </a:prstGeom>
          <a:solidFill>
            <a:srgbClr val="1C3645"/>
          </a:solidFill>
          <a:ln w="12700">
            <a:solidFill>
              <a:srgbClr val="43D4C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281" y="1910278"/>
            <a:ext cx="2666834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E4EEF2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backend/api.py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49281" y="2347774"/>
            <a:ext cx="3276419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FastAPI /compare endpoint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797106" y="2144911"/>
            <a:ext cx="444390" cy="228501"/>
          </a:xfrm>
          <a:prstGeom prst="rightArrow">
            <a:avLst/>
          </a:prstGeom>
          <a:solidFill>
            <a:srgbClr val="43D4C3"/>
          </a:solidFill>
          <a:ln/>
        </p:spPr>
      </p:sp>
      <p:sp>
        <p:nvSpPr>
          <p:cNvPr id="9" name="Shape 7"/>
          <p:cNvSpPr/>
          <p:nvPr/>
        </p:nvSpPr>
        <p:spPr>
          <a:xfrm>
            <a:off x="4457489" y="1713111"/>
            <a:ext cx="3047825" cy="1142901"/>
          </a:xfrm>
          <a:prstGeom prst="roundRect">
            <a:avLst>
              <a:gd name="adj" fmla="val 3000"/>
            </a:avLst>
          </a:prstGeom>
          <a:solidFill>
            <a:srgbClr val="1C3645"/>
          </a:solidFill>
          <a:ln/>
        </p:spPr>
      </p:sp>
      <p:sp>
        <p:nvSpPr>
          <p:cNvPr id="10" name="Text 8"/>
          <p:cNvSpPr/>
          <p:nvPr/>
        </p:nvSpPr>
        <p:spPr>
          <a:xfrm>
            <a:off x="4635285" y="1897578"/>
            <a:ext cx="2692233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E4EEF2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main.py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35285" y="2335074"/>
            <a:ext cx="3301818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compare_apis()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683209" y="2144911"/>
            <a:ext cx="444390" cy="228501"/>
          </a:xfrm>
          <a:prstGeom prst="rightArrow">
            <a:avLst/>
          </a:prstGeom>
          <a:solidFill>
            <a:srgbClr val="43D4C3"/>
          </a:solidFill>
          <a:ln/>
        </p:spPr>
      </p:sp>
      <p:sp>
        <p:nvSpPr>
          <p:cNvPr id="13" name="Shape 11"/>
          <p:cNvSpPr/>
          <p:nvPr/>
        </p:nvSpPr>
        <p:spPr>
          <a:xfrm>
            <a:off x="8330892" y="1713111"/>
            <a:ext cx="3301818" cy="1142901"/>
          </a:xfrm>
          <a:prstGeom prst="roundRect">
            <a:avLst>
              <a:gd name="adj" fmla="val 3000"/>
            </a:avLst>
          </a:prstGeom>
          <a:solidFill>
            <a:srgbClr val="1C3645"/>
          </a:solidFill>
          <a:ln/>
        </p:spPr>
      </p:sp>
      <p:sp>
        <p:nvSpPr>
          <p:cNvPr id="14" name="Text 12"/>
          <p:cNvSpPr/>
          <p:nvPr/>
        </p:nvSpPr>
        <p:spPr>
          <a:xfrm>
            <a:off x="8508688" y="1897578"/>
            <a:ext cx="2946227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E4EEF2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backend/comparator.py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508688" y="2335074"/>
            <a:ext cx="3555812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Identifies changes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 rot="5400000">
            <a:off x="9791356" y="2919611"/>
            <a:ext cx="380891" cy="228501"/>
          </a:xfrm>
          <a:prstGeom prst="rightArrow">
            <a:avLst/>
          </a:prstGeom>
          <a:solidFill>
            <a:srgbClr val="43D4C3"/>
          </a:solidFill>
          <a:ln/>
        </p:spPr>
      </p:sp>
      <p:sp>
        <p:nvSpPr>
          <p:cNvPr id="17" name="Shape 15"/>
          <p:cNvSpPr/>
          <p:nvPr/>
        </p:nvSpPr>
        <p:spPr>
          <a:xfrm>
            <a:off x="8330892" y="3389511"/>
            <a:ext cx="3301818" cy="1142901"/>
          </a:xfrm>
          <a:prstGeom prst="roundRect">
            <a:avLst>
              <a:gd name="adj" fmla="val 3000"/>
            </a:avLst>
          </a:prstGeom>
          <a:solidFill>
            <a:srgbClr val="1C3645"/>
          </a:solidFill>
          <a:ln w="12700">
            <a:solidFill>
              <a:srgbClr val="43D4C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21388" y="3586678"/>
            <a:ext cx="2920828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E4EEF2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backend/linter.py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521388" y="4024174"/>
            <a:ext cx="3530412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analyze_changes()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58786" y="3364111"/>
            <a:ext cx="3936802" cy="609501"/>
          </a:xfrm>
          <a:prstGeom prst="roundRect">
            <a:avLst>
              <a:gd name="adj" fmla="val 5626"/>
            </a:avLst>
          </a:prstGeom>
          <a:solidFill>
            <a:srgbClr val="1C3645"/>
          </a:solidFill>
          <a:ln/>
        </p:spPr>
      </p:sp>
      <p:sp>
        <p:nvSpPr>
          <p:cNvPr id="21" name="Text 19"/>
          <p:cNvSpPr/>
          <p:nvPr/>
        </p:nvSpPr>
        <p:spPr>
          <a:xfrm>
            <a:off x="685783" y="3492064"/>
            <a:ext cx="4292393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backend/compatibility_rules.py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58786" y="4151511"/>
            <a:ext cx="3936802" cy="609501"/>
          </a:xfrm>
          <a:prstGeom prst="roundRect">
            <a:avLst>
              <a:gd name="adj" fmla="val 5626"/>
            </a:avLst>
          </a:prstGeom>
          <a:solidFill>
            <a:srgbClr val="1C3645"/>
          </a:solidFill>
          <a:ln/>
        </p:spPr>
      </p:sp>
      <p:sp>
        <p:nvSpPr>
          <p:cNvPr id="23" name="Text 21"/>
          <p:cNvSpPr/>
          <p:nvPr/>
        </p:nvSpPr>
        <p:spPr>
          <a:xfrm>
            <a:off x="685783" y="4279464"/>
            <a:ext cx="4292393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backend/risk_engine.py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558786" y="4938911"/>
            <a:ext cx="3936802" cy="609501"/>
          </a:xfrm>
          <a:prstGeom prst="roundRect">
            <a:avLst>
              <a:gd name="adj" fmla="val 5626"/>
            </a:avLst>
          </a:prstGeom>
          <a:solidFill>
            <a:srgbClr val="1C3645"/>
          </a:solidFill>
          <a:ln/>
        </p:spPr>
      </p:sp>
      <p:sp>
        <p:nvSpPr>
          <p:cNvPr id="25" name="Text 23"/>
          <p:cNvSpPr/>
          <p:nvPr/>
        </p:nvSpPr>
        <p:spPr>
          <a:xfrm>
            <a:off x="685783" y="5066864"/>
            <a:ext cx="4292393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backend/recommendations.py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5663959" y="3859411"/>
            <a:ext cx="2450939" cy="228501"/>
          </a:xfrm>
          <a:prstGeom prst="rightArrow">
            <a:avLst/>
          </a:prstGeom>
          <a:solidFill>
            <a:srgbClr val="43D4C3"/>
          </a:solidFill>
          <a:ln/>
        </p:spPr>
      </p:sp>
      <p:sp>
        <p:nvSpPr>
          <p:cNvPr id="27" name="Text 25"/>
          <p:cNvSpPr/>
          <p:nvPr/>
        </p:nvSpPr>
        <p:spPr>
          <a:xfrm>
            <a:off x="6267095" y="4281368"/>
            <a:ext cx="1752655" cy="396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A9BFC9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Rules, risk and guidance feed the linter.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387942" y="4878268"/>
            <a:ext cx="3797304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A9BFC9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Reporting layer presents the findings.</a:t>
            </a:r>
            <a:endParaRPr lang="en-US" sz="12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DCA4FEA-C5D0-28D5-1764-B7D2B2209C33}"/>
              </a:ext>
            </a:extLst>
          </p:cNvPr>
          <p:cNvSpPr/>
          <p:nvPr/>
        </p:nvSpPr>
        <p:spPr>
          <a:xfrm>
            <a:off x="10558152" y="6328360"/>
            <a:ext cx="1627094" cy="516192"/>
          </a:xfrm>
          <a:prstGeom prst="rect">
            <a:avLst/>
          </a:prstGeom>
          <a:solidFill>
            <a:srgbClr val="02240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Agent Nexus</a:t>
            </a:r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2588" y="258763"/>
            <a:ext cx="1170910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100" spc="120" dirty="0">
                <a:solidFill>
                  <a:srgbClr val="43D4C3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FROM SPECIFICATIONS TO FINDINGS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82588" y="553266"/>
            <a:ext cx="11226519" cy="474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400" kern="100" spc="-34" dirty="0">
                <a:solidFill>
                  <a:srgbClr val="FFFFFF"/>
                </a:solidFill>
                <a:latin typeface="Unbounded Medium" pitchFamily="34" charset="0"/>
                <a:ea typeface="Unbounded Medium" pitchFamily="34" charset="-122"/>
                <a:cs typeface="Unbounded Medium" pitchFamily="34" charset="-120"/>
              </a:rPr>
              <a:t>API Comparison Workflow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82588" y="3933448"/>
            <a:ext cx="11226519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E4EEF2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Before → After</a:t>
            </a:r>
            <a:endParaRPr lang="en-US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044498"/>
              </p:ext>
            </p:extLst>
          </p:nvPr>
        </p:nvGraphicFramePr>
        <p:xfrm>
          <a:off x="350332" y="4369991"/>
          <a:ext cx="11226520" cy="1191091"/>
        </p:xfrm>
        <a:graphic>
          <a:graphicData uri="http://schemas.openxmlformats.org/drawingml/2006/table">
            <a:tbl>
              <a:tblPr/>
              <a:tblGrid>
                <a:gridCol w="56132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132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966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Old API</a:t>
                      </a:r>
                      <a:endParaRPr lang="en-US" sz="16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Updated API</a:t>
                      </a:r>
                      <a:endParaRPr lang="en-US" sz="16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42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productName: string</a:t>
                      </a:r>
                      <a:endParaRPr lang="en-US" sz="16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price: number</a:t>
                      </a:r>
                      <a:endParaRPr lang="en-US" sz="16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name: string</a:t>
                      </a:r>
                      <a:endParaRPr lang="en-US" sz="16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price: string</a:t>
                      </a:r>
                      <a:endParaRPr lang="en-US" sz="16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82588" y="5750342"/>
            <a:ext cx="11709107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productName was removed. price changed from number to string.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82588" y="6216729"/>
            <a:ext cx="11709107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A9BFC9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Both changes may affect existing consumers.</a:t>
            </a:r>
            <a:endParaRPr lang="en-US" sz="2000" dirty="0"/>
          </a:p>
        </p:txBody>
      </p:sp>
      <p:sp>
        <p:nvSpPr>
          <p:cNvPr id="5" name="Shape 5"/>
          <p:cNvSpPr/>
          <p:nvPr/>
        </p:nvSpPr>
        <p:spPr>
          <a:xfrm>
            <a:off x="508979" y="1239738"/>
            <a:ext cx="211231" cy="211237"/>
          </a:xfrm>
          <a:prstGeom prst="ellipse">
            <a:avLst/>
          </a:prstGeom>
          <a:solidFill>
            <a:srgbClr val="43D4C3"/>
          </a:solidFill>
          <a:ln/>
        </p:spPr>
      </p:sp>
      <p:sp>
        <p:nvSpPr>
          <p:cNvPr id="9" name="Shape 6"/>
          <p:cNvSpPr/>
          <p:nvPr/>
        </p:nvSpPr>
        <p:spPr>
          <a:xfrm>
            <a:off x="799485" y="1266130"/>
            <a:ext cx="237722" cy="158452"/>
          </a:xfrm>
          <a:prstGeom prst="rightArrow">
            <a:avLst/>
          </a:prstGeom>
          <a:solidFill>
            <a:srgbClr val="43D4C3"/>
          </a:solidFill>
          <a:ln/>
        </p:spPr>
      </p:sp>
      <p:sp>
        <p:nvSpPr>
          <p:cNvPr id="10" name="Shape 7"/>
          <p:cNvSpPr/>
          <p:nvPr/>
        </p:nvSpPr>
        <p:spPr>
          <a:xfrm>
            <a:off x="1116481" y="1041598"/>
            <a:ext cx="1915072" cy="554633"/>
          </a:xfrm>
          <a:prstGeom prst="roundRect">
            <a:avLst>
              <a:gd name="adj" fmla="val 32972"/>
            </a:avLst>
          </a:prstGeom>
          <a:solidFill>
            <a:srgbClr val="1C3645"/>
          </a:solidFill>
          <a:ln/>
        </p:spPr>
      </p:sp>
      <p:sp>
        <p:nvSpPr>
          <p:cNvPr id="11" name="Text 8"/>
          <p:cNvSpPr/>
          <p:nvPr/>
        </p:nvSpPr>
        <p:spPr>
          <a:xfrm>
            <a:off x="913286" y="1143198"/>
            <a:ext cx="2321462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Upload baseline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3097631" y="1239738"/>
            <a:ext cx="264114" cy="158452"/>
          </a:xfrm>
          <a:prstGeom prst="rightArrow">
            <a:avLst/>
          </a:prstGeom>
          <a:solidFill>
            <a:srgbClr val="43D4C3"/>
          </a:solidFill>
          <a:ln/>
        </p:spPr>
      </p:sp>
      <p:sp>
        <p:nvSpPr>
          <p:cNvPr id="13" name="Shape 10"/>
          <p:cNvSpPr/>
          <p:nvPr/>
        </p:nvSpPr>
        <p:spPr>
          <a:xfrm>
            <a:off x="3454214" y="1041598"/>
            <a:ext cx="1915072" cy="554633"/>
          </a:xfrm>
          <a:prstGeom prst="roundRect">
            <a:avLst>
              <a:gd name="adj" fmla="val 32972"/>
            </a:avLst>
          </a:prstGeom>
          <a:solidFill>
            <a:srgbClr val="1C3645"/>
          </a:solidFill>
          <a:ln/>
        </p:spPr>
      </p:sp>
      <p:sp>
        <p:nvSpPr>
          <p:cNvPr id="14" name="Text 11"/>
          <p:cNvSpPr/>
          <p:nvPr/>
        </p:nvSpPr>
        <p:spPr>
          <a:xfrm>
            <a:off x="3251019" y="1143198"/>
            <a:ext cx="2321462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Upload updated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435365" y="1239738"/>
            <a:ext cx="264114" cy="158452"/>
          </a:xfrm>
          <a:prstGeom prst="rightArrow">
            <a:avLst/>
          </a:prstGeom>
          <a:solidFill>
            <a:srgbClr val="43D4C3"/>
          </a:solidFill>
          <a:ln/>
        </p:spPr>
      </p:sp>
      <p:sp>
        <p:nvSpPr>
          <p:cNvPr id="16" name="Shape 13"/>
          <p:cNvSpPr/>
          <p:nvPr/>
        </p:nvSpPr>
        <p:spPr>
          <a:xfrm>
            <a:off x="5791948" y="1041598"/>
            <a:ext cx="1716938" cy="554633"/>
          </a:xfrm>
          <a:prstGeom prst="roundRect">
            <a:avLst>
              <a:gd name="adj" fmla="val 32972"/>
            </a:avLst>
          </a:prstGeom>
          <a:solidFill>
            <a:srgbClr val="1C3645"/>
          </a:solidFill>
          <a:ln/>
        </p:spPr>
      </p:sp>
      <p:sp>
        <p:nvSpPr>
          <p:cNvPr id="17" name="Text 14"/>
          <p:cNvSpPr/>
          <p:nvPr/>
        </p:nvSpPr>
        <p:spPr>
          <a:xfrm>
            <a:off x="5588753" y="1143198"/>
            <a:ext cx="2123327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Validate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7601454" y="1239738"/>
            <a:ext cx="264114" cy="158452"/>
          </a:xfrm>
          <a:prstGeom prst="rightArrow">
            <a:avLst/>
          </a:prstGeom>
          <a:solidFill>
            <a:srgbClr val="43D4C3"/>
          </a:solidFill>
          <a:ln/>
        </p:spPr>
      </p:sp>
      <p:sp>
        <p:nvSpPr>
          <p:cNvPr id="19" name="Shape 16"/>
          <p:cNvSpPr/>
          <p:nvPr/>
        </p:nvSpPr>
        <p:spPr>
          <a:xfrm>
            <a:off x="7984429" y="1067991"/>
            <a:ext cx="554619" cy="501848"/>
          </a:xfrm>
          <a:prstGeom prst="diamond">
            <a:avLst/>
          </a:prstGeom>
          <a:solidFill>
            <a:srgbClr val="1C3645"/>
          </a:solidFill>
          <a:ln w="12700">
            <a:solidFill>
              <a:srgbClr val="43D4C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611774" y="1612384"/>
            <a:ext cx="952972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A9BFC9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Yes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8737282" y="1239738"/>
            <a:ext cx="264114" cy="158452"/>
          </a:xfrm>
          <a:prstGeom prst="rightArrow">
            <a:avLst/>
          </a:prstGeom>
          <a:solidFill>
            <a:srgbClr val="43D4C3"/>
          </a:solidFill>
          <a:ln/>
        </p:spPr>
      </p:sp>
      <p:sp>
        <p:nvSpPr>
          <p:cNvPr id="22" name="Shape 19"/>
          <p:cNvSpPr/>
          <p:nvPr/>
        </p:nvSpPr>
        <p:spPr>
          <a:xfrm>
            <a:off x="9093865" y="1041598"/>
            <a:ext cx="1915072" cy="554633"/>
          </a:xfrm>
          <a:prstGeom prst="roundRect">
            <a:avLst>
              <a:gd name="adj" fmla="val 32972"/>
            </a:avLst>
          </a:prstGeom>
          <a:solidFill>
            <a:srgbClr val="1C3645"/>
          </a:solidFill>
          <a:ln/>
        </p:spPr>
      </p:sp>
      <p:sp>
        <p:nvSpPr>
          <p:cNvPr id="23" name="Text 20"/>
          <p:cNvSpPr/>
          <p:nvPr/>
        </p:nvSpPr>
        <p:spPr>
          <a:xfrm>
            <a:off x="8890671" y="1143198"/>
            <a:ext cx="2321462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Parse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4504220" y="1665168"/>
            <a:ext cx="2868045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A9BFC9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No → Return input error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 rot="5400000">
            <a:off x="8142878" y="1675606"/>
            <a:ext cx="237722" cy="158452"/>
          </a:xfrm>
          <a:prstGeom prst="rightArrow">
            <a:avLst/>
          </a:prstGeom>
          <a:solidFill>
            <a:srgbClr val="43D4C3"/>
          </a:solidFill>
          <a:ln/>
        </p:spPr>
      </p:sp>
      <p:sp>
        <p:nvSpPr>
          <p:cNvPr id="26" name="Shape 23"/>
          <p:cNvSpPr/>
          <p:nvPr/>
        </p:nvSpPr>
        <p:spPr>
          <a:xfrm rot="5400000">
            <a:off x="9925893" y="1688802"/>
            <a:ext cx="237722" cy="158452"/>
          </a:xfrm>
          <a:prstGeom prst="rightArrow">
            <a:avLst/>
          </a:prstGeom>
          <a:solidFill>
            <a:srgbClr val="43D4C3"/>
          </a:solidFill>
          <a:ln/>
        </p:spPr>
      </p:sp>
      <p:sp>
        <p:nvSpPr>
          <p:cNvPr id="27" name="Shape 24"/>
          <p:cNvSpPr/>
          <p:nvPr/>
        </p:nvSpPr>
        <p:spPr>
          <a:xfrm flipH="1">
            <a:off x="8644813" y="1913334"/>
            <a:ext cx="290505" cy="158452"/>
          </a:xfrm>
          <a:prstGeom prst="rightArrow">
            <a:avLst/>
          </a:prstGeom>
          <a:solidFill>
            <a:srgbClr val="43D4C3"/>
          </a:solidFill>
          <a:ln/>
        </p:spPr>
      </p:sp>
      <p:sp>
        <p:nvSpPr>
          <p:cNvPr id="28" name="Shape 25"/>
          <p:cNvSpPr/>
          <p:nvPr/>
        </p:nvSpPr>
        <p:spPr>
          <a:xfrm>
            <a:off x="6386353" y="1926530"/>
            <a:ext cx="1915072" cy="554633"/>
          </a:xfrm>
          <a:prstGeom prst="roundRect">
            <a:avLst>
              <a:gd name="adj" fmla="val 32972"/>
            </a:avLst>
          </a:prstGeom>
          <a:solidFill>
            <a:srgbClr val="1C3645"/>
          </a:solidFill>
          <a:ln/>
        </p:spPr>
      </p:sp>
      <p:sp>
        <p:nvSpPr>
          <p:cNvPr id="29" name="Text 26"/>
          <p:cNvSpPr/>
          <p:nvPr/>
        </p:nvSpPr>
        <p:spPr>
          <a:xfrm>
            <a:off x="6183158" y="2028130"/>
            <a:ext cx="2321462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Compare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 flipH="1">
            <a:off x="6003279" y="2124670"/>
            <a:ext cx="290505" cy="158452"/>
          </a:xfrm>
          <a:prstGeom prst="rightArrow">
            <a:avLst/>
          </a:prstGeom>
          <a:solidFill>
            <a:srgbClr val="43D4C3"/>
          </a:solidFill>
          <a:ln/>
        </p:spPr>
      </p:sp>
      <p:sp>
        <p:nvSpPr>
          <p:cNvPr id="31" name="Shape 28"/>
          <p:cNvSpPr/>
          <p:nvPr/>
        </p:nvSpPr>
        <p:spPr>
          <a:xfrm>
            <a:off x="3744819" y="1926530"/>
            <a:ext cx="1915072" cy="554633"/>
          </a:xfrm>
          <a:prstGeom prst="roundRect">
            <a:avLst>
              <a:gd name="adj" fmla="val 32972"/>
            </a:avLst>
          </a:prstGeom>
          <a:solidFill>
            <a:srgbClr val="1C3645"/>
          </a:solidFill>
          <a:ln/>
        </p:spPr>
      </p:sp>
      <p:sp>
        <p:nvSpPr>
          <p:cNvPr id="32" name="Text 29"/>
          <p:cNvSpPr/>
          <p:nvPr/>
        </p:nvSpPr>
        <p:spPr>
          <a:xfrm>
            <a:off x="3541624" y="2028130"/>
            <a:ext cx="2321462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Evaluate rules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 rot="5400000">
            <a:off x="4576847" y="2428379"/>
            <a:ext cx="237722" cy="158452"/>
          </a:xfrm>
          <a:prstGeom prst="rightArrow">
            <a:avLst/>
          </a:prstGeom>
          <a:solidFill>
            <a:srgbClr val="43D4C3"/>
          </a:solidFill>
          <a:ln/>
        </p:spPr>
      </p:sp>
      <p:sp>
        <p:nvSpPr>
          <p:cNvPr id="34" name="Shape 31"/>
          <p:cNvSpPr/>
          <p:nvPr/>
        </p:nvSpPr>
        <p:spPr>
          <a:xfrm>
            <a:off x="1407085" y="2652911"/>
            <a:ext cx="1915072" cy="554633"/>
          </a:xfrm>
          <a:prstGeom prst="roundRect">
            <a:avLst>
              <a:gd name="adj" fmla="val 32972"/>
            </a:avLst>
          </a:prstGeom>
          <a:solidFill>
            <a:srgbClr val="1C3645"/>
          </a:solidFill>
          <a:ln/>
        </p:spPr>
      </p:sp>
      <p:sp>
        <p:nvSpPr>
          <p:cNvPr id="35" name="Text 32"/>
          <p:cNvSpPr/>
          <p:nvPr/>
        </p:nvSpPr>
        <p:spPr>
          <a:xfrm>
            <a:off x="1203890" y="2754511"/>
            <a:ext cx="2321462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Classify risk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3427823" y="2917130"/>
            <a:ext cx="264114" cy="158452"/>
          </a:xfrm>
          <a:prstGeom prst="rightArrow">
            <a:avLst/>
          </a:prstGeom>
          <a:solidFill>
            <a:srgbClr val="43D4C3"/>
          </a:solidFill>
          <a:ln/>
        </p:spPr>
      </p:sp>
      <p:sp>
        <p:nvSpPr>
          <p:cNvPr id="37" name="Shape 34"/>
          <p:cNvSpPr/>
          <p:nvPr/>
        </p:nvSpPr>
        <p:spPr>
          <a:xfrm>
            <a:off x="3784406" y="2652911"/>
            <a:ext cx="2179186" cy="686792"/>
          </a:xfrm>
          <a:prstGeom prst="roundRect">
            <a:avLst>
              <a:gd name="adj" fmla="val 26627"/>
            </a:avLst>
          </a:prstGeom>
          <a:solidFill>
            <a:srgbClr val="1C3645"/>
          </a:solidFill>
          <a:ln/>
        </p:spPr>
      </p:sp>
      <p:sp>
        <p:nvSpPr>
          <p:cNvPr id="38" name="Text 35"/>
          <p:cNvSpPr/>
          <p:nvPr/>
        </p:nvSpPr>
        <p:spPr>
          <a:xfrm>
            <a:off x="3860604" y="2729111"/>
            <a:ext cx="2026790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Generate guidance where integrated</a:t>
            </a:r>
            <a:endParaRPr lang="en-US" sz="1400" dirty="0"/>
          </a:p>
        </p:txBody>
      </p:sp>
      <p:sp>
        <p:nvSpPr>
          <p:cNvPr id="39" name="Shape 36"/>
          <p:cNvSpPr/>
          <p:nvPr/>
        </p:nvSpPr>
        <p:spPr>
          <a:xfrm>
            <a:off x="6069357" y="2917130"/>
            <a:ext cx="264114" cy="158452"/>
          </a:xfrm>
          <a:prstGeom prst="rightArrow">
            <a:avLst/>
          </a:prstGeom>
          <a:solidFill>
            <a:srgbClr val="43D4C3"/>
          </a:solidFill>
          <a:ln/>
        </p:spPr>
      </p:sp>
      <p:sp>
        <p:nvSpPr>
          <p:cNvPr id="40" name="Shape 37"/>
          <p:cNvSpPr/>
          <p:nvPr/>
        </p:nvSpPr>
        <p:spPr>
          <a:xfrm>
            <a:off x="6425940" y="2652911"/>
            <a:ext cx="1915072" cy="554633"/>
          </a:xfrm>
          <a:prstGeom prst="roundRect">
            <a:avLst>
              <a:gd name="adj" fmla="val 32972"/>
            </a:avLst>
          </a:prstGeom>
          <a:solidFill>
            <a:srgbClr val="1C3645"/>
          </a:solidFill>
          <a:ln/>
        </p:spPr>
      </p:sp>
      <p:sp>
        <p:nvSpPr>
          <p:cNvPr id="41" name="Text 38"/>
          <p:cNvSpPr/>
          <p:nvPr/>
        </p:nvSpPr>
        <p:spPr>
          <a:xfrm>
            <a:off x="6222745" y="2754511"/>
            <a:ext cx="2321462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Return results</a:t>
            </a:r>
            <a:endParaRPr lang="en-US" sz="1400" dirty="0"/>
          </a:p>
        </p:txBody>
      </p:sp>
      <p:sp>
        <p:nvSpPr>
          <p:cNvPr id="42" name="Shape 39"/>
          <p:cNvSpPr/>
          <p:nvPr/>
        </p:nvSpPr>
        <p:spPr>
          <a:xfrm>
            <a:off x="8446678" y="2917130"/>
            <a:ext cx="264114" cy="158452"/>
          </a:xfrm>
          <a:prstGeom prst="rightArrow">
            <a:avLst/>
          </a:prstGeom>
          <a:solidFill>
            <a:srgbClr val="43D4C3"/>
          </a:solidFill>
          <a:ln/>
        </p:spPr>
      </p:sp>
      <p:sp>
        <p:nvSpPr>
          <p:cNvPr id="43" name="Shape 40"/>
          <p:cNvSpPr/>
          <p:nvPr/>
        </p:nvSpPr>
        <p:spPr>
          <a:xfrm>
            <a:off x="8803261" y="2652911"/>
            <a:ext cx="2179186" cy="686792"/>
          </a:xfrm>
          <a:prstGeom prst="roundRect">
            <a:avLst>
              <a:gd name="adj" fmla="val 26627"/>
            </a:avLst>
          </a:prstGeom>
          <a:solidFill>
            <a:srgbClr val="1C3645"/>
          </a:solidFill>
          <a:ln/>
        </p:spPr>
      </p:sp>
      <p:sp>
        <p:nvSpPr>
          <p:cNvPr id="44" name="Text 41"/>
          <p:cNvSpPr/>
          <p:nvPr/>
        </p:nvSpPr>
        <p:spPr>
          <a:xfrm>
            <a:off x="8574667" y="2729111"/>
            <a:ext cx="2636375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Review and download PDF</a:t>
            </a:r>
            <a:endParaRPr lang="en-US" sz="1400" dirty="0"/>
          </a:p>
        </p:txBody>
      </p:sp>
      <p:sp>
        <p:nvSpPr>
          <p:cNvPr id="45" name="Shape 42"/>
          <p:cNvSpPr/>
          <p:nvPr/>
        </p:nvSpPr>
        <p:spPr>
          <a:xfrm>
            <a:off x="11048624" y="2917130"/>
            <a:ext cx="264114" cy="158452"/>
          </a:xfrm>
          <a:prstGeom prst="rightArrow">
            <a:avLst/>
          </a:prstGeom>
          <a:solidFill>
            <a:srgbClr val="43D4C3"/>
          </a:solidFill>
          <a:ln/>
        </p:spPr>
      </p:sp>
      <p:sp>
        <p:nvSpPr>
          <p:cNvPr id="46" name="Shape 43"/>
          <p:cNvSpPr/>
          <p:nvPr/>
        </p:nvSpPr>
        <p:spPr>
          <a:xfrm>
            <a:off x="11378816" y="2785070"/>
            <a:ext cx="290505" cy="290512"/>
          </a:xfrm>
          <a:prstGeom prst="ellipse">
            <a:avLst/>
          </a:prstGeom>
          <a:noFill/>
          <a:ln w="25400">
            <a:solidFill>
              <a:srgbClr val="43D4C3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11457991" y="2864247"/>
            <a:ext cx="132057" cy="132060"/>
          </a:xfrm>
          <a:prstGeom prst="ellipse">
            <a:avLst/>
          </a:prstGeom>
          <a:solidFill>
            <a:srgbClr val="43D4C3"/>
          </a:solidFill>
          <a:ln/>
        </p:spPr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E50D9C65-ABDB-F563-10FC-AA64566CE9A6}"/>
              </a:ext>
            </a:extLst>
          </p:cNvPr>
          <p:cNvSpPr/>
          <p:nvPr/>
        </p:nvSpPr>
        <p:spPr>
          <a:xfrm>
            <a:off x="10558152" y="6328360"/>
            <a:ext cx="1627094" cy="516192"/>
          </a:xfrm>
          <a:prstGeom prst="rect">
            <a:avLst/>
          </a:prstGeom>
          <a:solidFill>
            <a:srgbClr val="02240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Agent Nexus</a:t>
            </a:r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436563"/>
            <a:ext cx="1163290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100" spc="120" dirty="0">
                <a:solidFill>
                  <a:srgbClr val="43D4C3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ONE TESTED EXAMPLE · 1.0.0 → 1.1.0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58786" y="729615"/>
            <a:ext cx="11074123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000" kern="100" spc="-30" dirty="0">
                <a:solidFill>
                  <a:srgbClr val="FFFFFF"/>
                </a:solidFill>
                <a:latin typeface="Unbounded Medium" pitchFamily="34" charset="0"/>
                <a:ea typeface="Unbounded Medium" pitchFamily="34" charset="-122"/>
                <a:cs typeface="Unbounded Medium" pitchFamily="34" charset="-120"/>
              </a:rPr>
              <a:t>Results: Detecting Breaking API Changes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58786" y="1330008"/>
            <a:ext cx="11632909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A9BFC9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Illustrative dashboard mockup. These results are from one tested example, not general performance or accuracy claims.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58786" y="1709341"/>
            <a:ext cx="2654234" cy="1452860"/>
          </a:xfrm>
          <a:prstGeom prst="rect">
            <a:avLst/>
          </a:prstGeom>
          <a:solidFill>
            <a:srgbClr val="1C3645"/>
          </a:solidFill>
          <a:ln/>
        </p:spPr>
      </p:sp>
      <p:sp>
        <p:nvSpPr>
          <p:cNvPr id="6" name="Text 4"/>
          <p:cNvSpPr/>
          <p:nvPr/>
        </p:nvSpPr>
        <p:spPr>
          <a:xfrm>
            <a:off x="736582" y="1957245"/>
            <a:ext cx="2298642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4800" kern="100" spc="-96" dirty="0">
                <a:solidFill>
                  <a:srgbClr val="FFFFFF"/>
                </a:solidFill>
                <a:latin typeface="Unbounded SemiBold" pitchFamily="34" charset="0"/>
                <a:ea typeface="Unbounded SemiBold" pitchFamily="34" charset="-122"/>
                <a:cs typeface="Unbounded SemiBold" pitchFamily="34" charset="-120"/>
              </a:rPr>
              <a:t>    8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736582" y="2705021"/>
            <a:ext cx="2476438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Total changes detected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365416" y="1709341"/>
            <a:ext cx="2654234" cy="1452860"/>
          </a:xfrm>
          <a:prstGeom prst="rect">
            <a:avLst/>
          </a:prstGeom>
          <a:solidFill>
            <a:srgbClr val="1C3645"/>
          </a:solidFill>
          <a:ln/>
        </p:spPr>
      </p:sp>
      <p:sp>
        <p:nvSpPr>
          <p:cNvPr id="9" name="Text 7"/>
          <p:cNvSpPr/>
          <p:nvPr/>
        </p:nvSpPr>
        <p:spPr>
          <a:xfrm>
            <a:off x="3543211" y="1957245"/>
            <a:ext cx="2298642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4800" kern="100" spc="-96" dirty="0">
                <a:solidFill>
                  <a:srgbClr val="FFFFFF"/>
                </a:solidFill>
                <a:latin typeface="Unbounded SemiBold" pitchFamily="34" charset="0"/>
                <a:ea typeface="Unbounded SemiBold" pitchFamily="34" charset="-122"/>
                <a:cs typeface="Unbounded SemiBold" pitchFamily="34" charset="-120"/>
              </a:rPr>
              <a:t>   4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3543211" y="2705021"/>
            <a:ext cx="2476438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Breaking changes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172046" y="1709341"/>
            <a:ext cx="2654234" cy="1452860"/>
          </a:xfrm>
          <a:prstGeom prst="rect">
            <a:avLst/>
          </a:prstGeom>
          <a:solidFill>
            <a:srgbClr val="1C3645"/>
          </a:solidFill>
          <a:ln/>
        </p:spPr>
      </p:sp>
      <p:sp>
        <p:nvSpPr>
          <p:cNvPr id="12" name="Text 10"/>
          <p:cNvSpPr/>
          <p:nvPr/>
        </p:nvSpPr>
        <p:spPr>
          <a:xfrm>
            <a:off x="6349841" y="1957245"/>
            <a:ext cx="2298642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4800" kern="100" spc="-96" dirty="0">
                <a:solidFill>
                  <a:srgbClr val="FFFFFF"/>
                </a:solidFill>
                <a:latin typeface="Unbounded SemiBold" pitchFamily="34" charset="0"/>
                <a:ea typeface="Unbounded SemiBold" pitchFamily="34" charset="-122"/>
                <a:cs typeface="Unbounded SemiBold" pitchFamily="34" charset="-120"/>
              </a:rPr>
              <a:t>  0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6349841" y="2705021"/>
            <a:ext cx="2476438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 Warnings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978675" y="1709341"/>
            <a:ext cx="2654234" cy="1452860"/>
          </a:xfrm>
          <a:prstGeom prst="rect">
            <a:avLst/>
          </a:prstGeom>
          <a:solidFill>
            <a:srgbClr val="1C3645"/>
          </a:solidFill>
          <a:ln/>
        </p:spPr>
      </p:sp>
      <p:sp>
        <p:nvSpPr>
          <p:cNvPr id="15" name="Text 13"/>
          <p:cNvSpPr/>
          <p:nvPr/>
        </p:nvSpPr>
        <p:spPr>
          <a:xfrm>
            <a:off x="9156471" y="1938903"/>
            <a:ext cx="2298642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800" kern="100" spc="-38" dirty="0">
                <a:solidFill>
                  <a:srgbClr val="FFFFFF"/>
                </a:solidFill>
                <a:latin typeface="Unbounded SemiBold" pitchFamily="34" charset="0"/>
                <a:ea typeface="Unbounded SemiBold" pitchFamily="34" charset="-122"/>
                <a:cs typeface="Unbounded SemiBold" pitchFamily="34" charset="-120"/>
              </a:rPr>
              <a:t>FAIL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9156471" y="2578021"/>
            <a:ext cx="2476438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Compatibility result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58786" y="3365401"/>
            <a:ext cx="5384665" cy="3060799"/>
          </a:xfrm>
          <a:prstGeom prst="rect">
            <a:avLst/>
          </a:prstGeom>
          <a:noFill/>
          <a:ln w="12700">
            <a:solidFill>
              <a:srgbClr val="43D4C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48244" y="3365401"/>
            <a:ext cx="5384665" cy="3060799"/>
          </a:xfrm>
          <a:prstGeom prst="rect">
            <a:avLst/>
          </a:prstGeom>
          <a:solidFill>
            <a:srgbClr val="1C3645"/>
          </a:solidFill>
          <a:ln/>
        </p:spPr>
      </p:sp>
      <p:sp>
        <p:nvSpPr>
          <p:cNvPr id="22" name="Text 20"/>
          <p:cNvSpPr/>
          <p:nvPr/>
        </p:nvSpPr>
        <p:spPr>
          <a:xfrm>
            <a:off x="6502237" y="3626068"/>
            <a:ext cx="4876678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Example findings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502237" y="4062611"/>
            <a:ext cx="4876678" cy="61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The productName response field was removed.</a:t>
            </a:r>
            <a:endParaRPr lang="en-US" sz="1600" dirty="0"/>
          </a:p>
          <a:p>
            <a:pPr marL="325120" indent="-325120" algn="l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price changed from number to string.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502237" y="4805839"/>
            <a:ext cx="4876678" cy="396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The same schema change can appear for several endpoints that share that schema.</a:t>
            </a:r>
            <a:endParaRPr lang="en-US" sz="12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2979911C-91B6-4B02-53DB-93EC51F325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564" y="3365401"/>
            <a:ext cx="5473086" cy="3056036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D2FDC09E-D8A1-2F34-BBEB-3AEF7D50EC91}"/>
              </a:ext>
            </a:extLst>
          </p:cNvPr>
          <p:cNvSpPr/>
          <p:nvPr/>
        </p:nvSpPr>
        <p:spPr>
          <a:xfrm>
            <a:off x="10558152" y="6328360"/>
            <a:ext cx="1627094" cy="516192"/>
          </a:xfrm>
          <a:prstGeom prst="rect">
            <a:avLst/>
          </a:prstGeom>
          <a:solidFill>
            <a:srgbClr val="02240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Agent Nexus</a:t>
            </a:r>
            <a:endParaRPr lang="en-I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4363"/>
            <a:ext cx="1158211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100" spc="120" dirty="0">
                <a:solidFill>
                  <a:srgbClr val="43D4C3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DELIVERED VALUE AND NEXT STEPS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08866"/>
            <a:ext cx="10972526" cy="474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400" kern="100" spc="-34" dirty="0">
                <a:solidFill>
                  <a:srgbClr val="FFFFFF"/>
                </a:solidFill>
                <a:latin typeface="Unbounded Medium" pitchFamily="34" charset="0"/>
                <a:ea typeface="Unbounded Medium" pitchFamily="34" charset="-122"/>
                <a:cs typeface="Unbounded Medium" pitchFamily="34" charset="-120"/>
              </a:rPr>
              <a:t>Benefits and Key Capabilities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09585" y="1610023"/>
            <a:ext cx="7351429" cy="31651"/>
          </a:xfrm>
          <a:prstGeom prst="roundRect">
            <a:avLst>
              <a:gd name="adj" fmla="val 49998"/>
            </a:avLst>
          </a:prstGeom>
          <a:solidFill>
            <a:srgbClr val="43D4C3"/>
          </a:solidFill>
          <a:ln/>
        </p:spPr>
      </p:sp>
      <p:sp>
        <p:nvSpPr>
          <p:cNvPr id="5" name="Shape 3"/>
          <p:cNvSpPr/>
          <p:nvPr/>
        </p:nvSpPr>
        <p:spPr>
          <a:xfrm>
            <a:off x="609585" y="1883271"/>
            <a:ext cx="5257668" cy="3974802"/>
          </a:xfrm>
          <a:custGeom>
            <a:avLst/>
            <a:gdLst/>
            <a:ahLst/>
            <a:cxnLst/>
            <a:rect l="l" t="t" r="r" b="b"/>
            <a:pathLst>
              <a:path w="5257668" h="3974802">
                <a:moveTo>
                  <a:pt x="304792" y="0"/>
                </a:moveTo>
                <a:lnTo>
                  <a:pt x="4952876" y="0"/>
                </a:lnTo>
                <a:arcTo wR="304792" hR="304800" stAng="16200000" swAng="5400000"/>
                <a:lnTo>
                  <a:pt x="5257668" y="3670002"/>
                </a:lnTo>
                <a:arcTo wR="304792" hR="304800" stAng="0" swAng="5400000"/>
                <a:lnTo>
                  <a:pt x="76198" y="3974802"/>
                </a:lnTo>
                <a:arcTo wR="76198" hR="76200" stAng="5400000" swAng="5400000"/>
                <a:lnTo>
                  <a:pt x="0" y="304800"/>
                </a:lnTo>
                <a:arcTo wR="304792" hR="304800" stAng="10800000" swAng="5400000"/>
                <a:close/>
              </a:path>
            </a:pathLst>
          </a:custGeom>
          <a:solidFill>
            <a:srgbClr val="1C3645"/>
          </a:solidFill>
          <a:ln/>
        </p:spPr>
      </p:sp>
      <p:sp>
        <p:nvSpPr>
          <p:cNvPr id="6" name="Text 4"/>
          <p:cNvSpPr/>
          <p:nvPr/>
        </p:nvSpPr>
        <p:spPr>
          <a:xfrm>
            <a:off x="939776" y="2218234"/>
            <a:ext cx="492747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100" spc="120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CURRENT CAPABILITIES AND BENEFITS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39776" y="2495729"/>
            <a:ext cx="4597285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Review changes before deployment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39776" y="2995712"/>
            <a:ext cx="4597285" cy="185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Highlights potential API compatibility issues.</a:t>
            </a:r>
            <a:endParaRPr lang="en-US" sz="1600" dirty="0"/>
          </a:p>
          <a:p>
            <a:pPr marL="325120" indent="-325120" algn="l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Helps developers review changes before deployment.</a:t>
            </a:r>
            <a:endParaRPr lang="en-US" sz="1600" dirty="0"/>
          </a:p>
          <a:p>
            <a:pPr marL="325120" indent="-325120" algn="l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Provides structured findings and severity classifications.</a:t>
            </a:r>
            <a:endParaRPr lang="en-US" sz="1600" dirty="0"/>
          </a:p>
          <a:p>
            <a:pPr marL="325120" indent="-325120" algn="l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Supports PDF report generation.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324442" y="1883271"/>
            <a:ext cx="5257668" cy="3974802"/>
          </a:xfrm>
          <a:custGeom>
            <a:avLst/>
            <a:gdLst/>
            <a:ahLst/>
            <a:cxnLst/>
            <a:rect l="l" t="t" r="r" b="b"/>
            <a:pathLst>
              <a:path w="5257668" h="3974802">
                <a:moveTo>
                  <a:pt x="304792" y="0"/>
                </a:moveTo>
                <a:lnTo>
                  <a:pt x="4952876" y="0"/>
                </a:lnTo>
                <a:arcTo wR="304792" hR="304800" stAng="16200000" swAng="5400000"/>
                <a:lnTo>
                  <a:pt x="5257668" y="3670002"/>
                </a:lnTo>
                <a:arcTo wR="304792" hR="304800" stAng="0" swAng="5400000"/>
                <a:lnTo>
                  <a:pt x="76198" y="3974802"/>
                </a:lnTo>
                <a:arcTo wR="76198" hR="76200" stAng="5400000" swAng="5400000"/>
                <a:lnTo>
                  <a:pt x="0" y="304800"/>
                </a:lnTo>
                <a:arcTo wR="304792" hR="304800" stAng="10800000" swAng="5400000"/>
                <a:close/>
              </a:path>
            </a:pathLst>
          </a:custGeom>
          <a:noFill/>
          <a:ln w="12700">
            <a:solidFill>
              <a:srgbClr val="43D4C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67333" y="2230934"/>
            <a:ext cx="491477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100" spc="120" dirty="0">
                <a:solidFill>
                  <a:srgbClr val="43D4C3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KEY CAPABILITIES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667333" y="2508429"/>
            <a:ext cx="4571886" cy="726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200" dirty="0">
                <a:solidFill>
                  <a:srgbClr val="E4EEF2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Check API compatibility with confidence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667333" y="3371552"/>
            <a:ext cx="4571886" cy="21436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Accepts old and new OpenAPI 3.x specs in YAML or JSON.</a:t>
            </a:r>
            <a:endParaRPr lang="en-US" sz="1600" dirty="0"/>
          </a:p>
          <a:p>
            <a:pPr marL="325120" indent="-325120" algn="l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Detects changes to endpoints, response fields, and data types.</a:t>
            </a:r>
            <a:endParaRPr lang="en-US" sz="1600" dirty="0"/>
          </a:p>
          <a:p>
            <a:pPr marL="325120" indent="-325120" algn="l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Web interface built with React and a FastAPI backend.</a:t>
            </a:r>
            <a:endParaRPr lang="en-US" sz="1600" dirty="0"/>
          </a:p>
          <a:p>
            <a:pPr marL="325120" indent="-325120" algn="l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Clear pass/fail compatibility result.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09585" y="6053217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A9BFC9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Capabilities described are implemented in the current project.</a:t>
            </a:r>
            <a:endParaRPr lang="en-US" sz="20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FA8DAE8-416F-0EA4-5E26-9D7BD578B544}"/>
              </a:ext>
            </a:extLst>
          </p:cNvPr>
          <p:cNvSpPr/>
          <p:nvPr/>
        </p:nvSpPr>
        <p:spPr>
          <a:xfrm>
            <a:off x="10558152" y="6328360"/>
            <a:ext cx="1627094" cy="516192"/>
          </a:xfrm>
          <a:prstGeom prst="rect">
            <a:avLst/>
          </a:prstGeom>
          <a:solidFill>
            <a:srgbClr val="02240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Agent Nexus</a:t>
            </a:r>
            <a:endParaRPr lang="en-I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563563"/>
            <a:ext cx="995655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100" spc="120" dirty="0">
                <a:solidFill>
                  <a:srgbClr val="43D4C3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PROJECT CONCLUSION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56615"/>
            <a:ext cx="9346966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000" kern="100" spc="-30" dirty="0">
                <a:solidFill>
                  <a:srgbClr val="FFFFFF"/>
                </a:solidFill>
                <a:latin typeface="Unbounded Medium" pitchFamily="34" charset="0"/>
                <a:ea typeface="Unbounded Medium" pitchFamily="34" charset="-122"/>
                <a:cs typeface="Unbounded Medium" pitchFamily="34" charset="-120"/>
              </a:rPr>
              <a:t>Protecting Microservices from Breaking API Changes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9585" y="2267166"/>
            <a:ext cx="9346966" cy="167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000" kern="100" spc="-40" dirty="0">
                <a:solidFill>
                  <a:srgbClr val="FFFFFF"/>
                </a:solidFill>
                <a:latin typeface="Unbounded Medium" pitchFamily="34" charset="0"/>
                <a:ea typeface="Unbounded Medium" pitchFamily="34" charset="-122"/>
                <a:cs typeface="Unbounded Medium" pitchFamily="34" charset="-120"/>
              </a:rPr>
              <a:t>Detect Early.</a:t>
            </a:r>
            <a:endParaRPr lang="en-US" sz="4000" dirty="0"/>
          </a:p>
          <a:p>
            <a:pPr marL="0" indent="0" algn="l">
              <a:lnSpc>
                <a:spcPct val="92000"/>
              </a:lnSpc>
              <a:buNone/>
            </a:pPr>
            <a:r>
              <a:rPr lang="en-US" sz="4000" kern="100" spc="-40" dirty="0">
                <a:solidFill>
                  <a:srgbClr val="43D4C3"/>
                </a:solidFill>
                <a:latin typeface="Unbounded Medium" pitchFamily="34" charset="0"/>
                <a:ea typeface="Unbounded Medium" pitchFamily="34" charset="-122"/>
                <a:cs typeface="Unbounded Medium" pitchFamily="34" charset="-120"/>
              </a:rPr>
              <a:t>Fix Confidently.</a:t>
            </a:r>
            <a:endParaRPr lang="en-US" sz="4000" dirty="0"/>
          </a:p>
          <a:p>
            <a:pPr marL="0" indent="0" algn="l">
              <a:lnSpc>
                <a:spcPct val="92000"/>
              </a:lnSpc>
              <a:buNone/>
            </a:pPr>
            <a:r>
              <a:rPr lang="en-US" sz="4000" kern="100" spc="-40" dirty="0">
                <a:solidFill>
                  <a:srgbClr val="FFFFFF"/>
                </a:solidFill>
                <a:latin typeface="Unbounded Medium" pitchFamily="34" charset="0"/>
                <a:ea typeface="Unbounded Medium" pitchFamily="34" charset="-122"/>
                <a:cs typeface="Unbounded Medium" pitchFamily="34" charset="-120"/>
              </a:rPr>
              <a:t>Deploy Safely.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09585" y="4164806"/>
            <a:ext cx="6262432" cy="31651"/>
          </a:xfrm>
          <a:prstGeom prst="roundRect">
            <a:avLst>
              <a:gd name="adj" fmla="val 49998"/>
            </a:avLst>
          </a:prstGeom>
          <a:solidFill>
            <a:srgbClr val="43D4C3"/>
          </a:solidFill>
          <a:ln/>
        </p:spPr>
      </p:sp>
      <p:sp>
        <p:nvSpPr>
          <p:cNvPr id="6" name="Text 4"/>
          <p:cNvSpPr/>
          <p:nvPr/>
        </p:nvSpPr>
        <p:spPr>
          <a:xfrm>
            <a:off x="609585" y="4429919"/>
            <a:ext cx="9346966" cy="1037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000"/>
              </a:lnSpc>
              <a:spcAft>
                <a:spcPts val="1400"/>
              </a:spcAft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APIs evolve as software grows. Unchecked contract changes can affect dependent applications.</a:t>
            </a:r>
            <a:endParaRPr lang="en-US" sz="16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This project compares API versions and highlights potential compatibility risks, helping developers find issues before deployment.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09585" y="5945267"/>
            <a:ext cx="9346966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200" dirty="0">
                <a:solidFill>
                  <a:srgbClr val="E4EEF2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                                                              Thank You</a:t>
            </a:r>
            <a:endParaRPr lang="en-US" sz="22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6136" y="0"/>
            <a:ext cx="1625559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2089E20-792F-4F21-AAF4-5C467ADA4B29}"/>
              </a:ext>
            </a:extLst>
          </p:cNvPr>
          <p:cNvSpPr/>
          <p:nvPr/>
        </p:nvSpPr>
        <p:spPr>
          <a:xfrm>
            <a:off x="10558152" y="6328360"/>
            <a:ext cx="1627094" cy="516192"/>
          </a:xfrm>
          <a:prstGeom prst="rect">
            <a:avLst/>
          </a:prstGeom>
          <a:solidFill>
            <a:srgbClr val="02240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Agent Nexus</a:t>
            </a:r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913</Words>
  <Application>Microsoft Office PowerPoint</Application>
  <PresentationFormat>Widescreen</PresentationFormat>
  <Paragraphs>178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Cabin Bold</vt:lpstr>
      <vt:lpstr>Arial</vt:lpstr>
      <vt:lpstr>Cabin Medium</vt:lpstr>
      <vt:lpstr>Unbounded Medium</vt:lpstr>
      <vt:lpstr>Cabin</vt:lpstr>
      <vt:lpstr>Unbounded SemiBold</vt:lpstr>
      <vt:lpstr>Cabin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mohd abdul bar</dc:creator>
  <cp:lastModifiedBy>mohd abdul bar</cp:lastModifiedBy>
  <cp:revision>2</cp:revision>
  <dcterms:created xsi:type="dcterms:W3CDTF">2026-10-10T22:23:06Z</dcterms:created>
  <dcterms:modified xsi:type="dcterms:W3CDTF">2026-10-10T22:44:36Z</dcterms:modified>
</cp:coreProperties>
</file>